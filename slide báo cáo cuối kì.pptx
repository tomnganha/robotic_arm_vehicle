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7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CCD903-7CF2-E875-5AFA-F07F0B271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3AF77DB2-CDE4-7AC5-6E84-239083116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A14BAA8-8464-2C21-4687-CA5DE6F9E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E38B-56C3-4B2B-86D6-67A6BCDF7732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95EA96D2-C376-D93E-1A71-5660DB2FF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7083B41-98E6-B728-4036-A780E17F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3DA7-9968-4BB3-8F26-236ABAB3E2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363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5AAB865-CB09-ED1F-AC12-DDC32E64D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F0663D90-16E7-F19B-1FB0-01EA93948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34EBB533-5DB8-E392-242A-A144D3894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E38B-56C3-4B2B-86D6-67A6BCDF7732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B4CC5FF-4415-7033-EB52-A2ABCD35D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6118BE52-F123-C80D-54E6-35838B4C4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3DA7-9968-4BB3-8F26-236ABAB3E2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2537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F938866-2D25-FF0A-73C2-F9848B6C1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BB6FC52-C1DD-31F4-84A8-772711ABB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2993E186-0686-2C1F-5B2B-E7DA5888C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E38B-56C3-4B2B-86D6-67A6BCDF7732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8BFAA63-4EFA-476F-2B7B-DB1F9CADA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B76350F-C99D-ED84-5C48-B4E803B53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3DA7-9968-4BB3-8F26-236ABAB3E2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5113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CC5A3D3-2FA4-700C-475E-7B8E3613F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5B2B71D-BC1F-21E4-A28B-FB8D3F04D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3E215166-F485-9D4B-64F8-39C096265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950A82BC-0647-ADAE-6976-8B71FD5BB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E38B-56C3-4B2B-86D6-67A6BCDF7732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2ADB47DC-21CF-9592-2227-64E6FE456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94DDA2B2-838B-56CC-0CF9-D97A0E5AA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3DA7-9968-4BB3-8F26-236ABAB3E2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26869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BE1893D-DF61-EB02-DC33-6EA4B9AF0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F081CC-B9FA-3C75-F501-EB96009E4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950A4957-77F2-9188-D729-ACBDE7C5E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2D27FCD1-FDC2-1196-671A-3331E8F593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25851E41-99F4-9771-6B57-764EB5D10F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BE1369EF-74E2-70AC-3157-E61D6B8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E38B-56C3-4B2B-86D6-67A6BCDF7732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CDA2F6B4-CD99-562E-DFFE-7F4B16131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0B232AEA-BCAD-054C-302C-C631C4D78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3DA7-9968-4BB3-8F26-236ABAB3E2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36707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0AEFFFB-ABAD-1972-C1CB-20128BDD8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D3E39179-9B7B-0CA9-905E-3DBC10BB2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E38B-56C3-4B2B-86D6-67A6BCDF7732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C1E10CC7-9578-E8BA-ACA9-6EF2E86E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ACD9061D-AD0B-11D4-2A57-8BBAB6504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3DA7-9968-4BB3-8F26-236ABAB3E2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3124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07FB2A23-763C-C22D-EFF4-17B75CE33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E38B-56C3-4B2B-86D6-67A6BCDF7732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8940E7FC-DBF9-D584-9EAA-59672083E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BA0D478-6AAC-351B-3C98-E24E3BCC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3DA7-9968-4BB3-8F26-236ABAB3E2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3895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9BD1BB7-7F4C-7D97-86C5-7DBAAC2F7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CFCD972-03DF-5B9C-C15B-0535F87C5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AC8CC0AE-7408-4895-BFA6-C594DA663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4427AF8-B553-1041-E505-3D237F724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E38B-56C3-4B2B-86D6-67A6BCDF7732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4CF3BD1E-2673-3463-7B04-33B44B84D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1CF86406-6F3E-0A2C-6078-A34D2B480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3DA7-9968-4BB3-8F26-236ABAB3E2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09808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3BBD6B1-C8CF-5DF6-8B7D-DAEA1AD9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98B99D21-166C-7701-627C-BBA6B5F6A1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324C6C88-76A1-6225-130B-69500DABC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67495CC5-AB18-D1EB-F7E0-9E862089A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E38B-56C3-4B2B-86D6-67A6BCDF7732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9726767D-26E6-F2D9-6260-C1B345BA3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C9582691-0071-EDFB-C439-F7B6245B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3DA7-9968-4BB3-8F26-236ABAB3E2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487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7E5F20F-D13F-355F-B750-C91DE15AC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8138577A-5A22-0D2E-3C1F-6CB9D2A6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2FDECD7-D14B-F1C3-D764-49A245C17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E38B-56C3-4B2B-86D6-67A6BCDF7732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7671108-4DEC-9E33-4234-696FF3791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D28CC1A-7D95-071D-3C25-687BA120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3DA7-9968-4BB3-8F26-236ABAB3E2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61978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B0B25F7A-3C96-4681-0436-324E58B492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AE72A40B-01AD-E633-14F3-DB73E2BF5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576BFCA-FA27-B8C2-BB76-900FA160C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E38B-56C3-4B2B-86D6-67A6BCDF7732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06C0FD29-2007-0A05-CC61-26A25FCE3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BF747BB-7499-4E76-08C7-0191D7486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3DA7-9968-4BB3-8F26-236ABAB3E2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86676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8625E5D6-E2FC-F0C4-ADA8-E36E4F145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EAA4CA3-3E30-7219-A7F5-7373367B6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DDA81D84-E92F-FE73-00C1-C9FAF368C3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B1E38B-56C3-4B2B-86D6-67A6BCDF7732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53BCE95-C2E2-16D6-9CA8-BD0DB5E29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24E000A-9AA6-E970-0AEA-7906414BC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B23DA7-9968-4BB3-8F26-236ABAB3E2B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93461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8A27399F-5BE6-8F1F-0702-7702F79DA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9080" y="3405907"/>
            <a:ext cx="7955091" cy="473226"/>
          </a:xfrm>
        </p:spPr>
        <p:txBody>
          <a:bodyPr/>
          <a:lstStyle/>
          <a:p>
            <a:r>
              <a:rPr lang="en-US" u="sng"/>
              <a:t>ĐỀ TÀI</a:t>
            </a:r>
            <a:r>
              <a:rPr lang="en-US"/>
              <a:t>: ROBOTIC ARM VEHICLE – XE CÁNH TAY ROBOT</a:t>
            </a:r>
            <a:endParaRPr lang="vi-VN"/>
          </a:p>
        </p:txBody>
      </p:sp>
      <p:pic>
        <p:nvPicPr>
          <p:cNvPr id="1028" name="Picture 4" descr="Trường Đại học Bách khoa, Đại học Đà Nẵng – Wikipedia tiếng Việt">
            <a:extLst>
              <a:ext uri="{FF2B5EF4-FFF2-40B4-BE49-F238E27FC236}">
                <a16:creationId xmlns:a16="http://schemas.microsoft.com/office/drawing/2014/main" id="{230682DE-BC0F-29F7-81DF-02450791E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789" y="625214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HOA ĐIỆN TỬ VIỄN THÔNG">
            <a:extLst>
              <a:ext uri="{FF2B5EF4-FFF2-40B4-BE49-F238E27FC236}">
                <a16:creationId xmlns:a16="http://schemas.microsoft.com/office/drawing/2014/main" id="{E7D7CF5A-2AE3-A134-EEA9-CBC3A2547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7069" y="625215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8A28016F-462C-4AE9-3D7C-B92F93E8FB6A}"/>
              </a:ext>
            </a:extLst>
          </p:cNvPr>
          <p:cNvSpPr txBox="1"/>
          <p:nvPr/>
        </p:nvSpPr>
        <p:spPr>
          <a:xfrm>
            <a:off x="3471035" y="682142"/>
            <a:ext cx="59277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TRƯỜNG ĐẠI HỌC BÁCH KHOA ĐÀ NẴNG</a:t>
            </a:r>
          </a:p>
          <a:p>
            <a:pPr algn="ctr"/>
            <a:r>
              <a:rPr lang="en-US" sz="2400" b="1"/>
              <a:t>KHOA ĐIỆN TỬ VIỄN THÔNG</a:t>
            </a:r>
            <a:endParaRPr lang="vi-VN" sz="2400" b="1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44527CFC-30B4-2121-4FE1-4A074BDE016D}"/>
              </a:ext>
            </a:extLst>
          </p:cNvPr>
          <p:cNvSpPr txBox="1"/>
          <p:nvPr/>
        </p:nvSpPr>
        <p:spPr>
          <a:xfrm>
            <a:off x="4469769" y="2078699"/>
            <a:ext cx="3733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BÁO CÁO CUỐI KÌ</a:t>
            </a:r>
            <a:endParaRPr lang="vi-VN" sz="3600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88BB200A-F896-9837-2171-345723B0FFC0}"/>
              </a:ext>
            </a:extLst>
          </p:cNvPr>
          <p:cNvSpPr txBox="1"/>
          <p:nvPr/>
        </p:nvSpPr>
        <p:spPr>
          <a:xfrm>
            <a:off x="8001590" y="2880802"/>
            <a:ext cx="2196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Môn: Kĩ thuật vi xử lý</a:t>
            </a:r>
            <a:endParaRPr lang="vi-VN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32B4E4B-67B1-5EB8-7E78-9F3CFB1767D3}"/>
              </a:ext>
            </a:extLst>
          </p:cNvPr>
          <p:cNvSpPr txBox="1"/>
          <p:nvPr/>
        </p:nvSpPr>
        <p:spPr>
          <a:xfrm>
            <a:off x="7996740" y="4651513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Nhóm: Man thành phố</a:t>
            </a:r>
            <a:endParaRPr lang="vi-VN"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3A926257-00BB-BD87-D76E-3858463CA812}"/>
              </a:ext>
            </a:extLst>
          </p:cNvPr>
          <p:cNvSpPr txBox="1"/>
          <p:nvPr/>
        </p:nvSpPr>
        <p:spPr>
          <a:xfrm>
            <a:off x="6889237" y="5771901"/>
            <a:ext cx="3849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/>
              <a:t>Đà Nẵng, ngày 13 </a:t>
            </a:r>
            <a:r>
              <a:rPr lang="en-US" sz="1600" i="1"/>
              <a:t>tháng</a:t>
            </a:r>
            <a:r>
              <a:rPr lang="en-US" i="1"/>
              <a:t> 12 năm 2024</a:t>
            </a:r>
            <a:endParaRPr lang="vi-VN" i="1"/>
          </a:p>
        </p:txBody>
      </p:sp>
    </p:spTree>
    <p:extLst>
      <p:ext uri="{BB962C8B-B14F-4D97-AF65-F5344CB8AC3E}">
        <p14:creationId xmlns:p14="http://schemas.microsoft.com/office/powerpoint/2010/main" val="638640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ADFF5-FF4C-DC28-E9AC-5FF3D9C45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rường Đại học Bách khoa, Đại học Đà Nẵng – Wikipedia tiếng Việt">
            <a:extLst>
              <a:ext uri="{FF2B5EF4-FFF2-40B4-BE49-F238E27FC236}">
                <a16:creationId xmlns:a16="http://schemas.microsoft.com/office/drawing/2014/main" id="{19A99302-D342-76CF-39EC-37BD6E820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40" y="471867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HOA ĐIỆN TỬ VIỄN THÔNG">
            <a:extLst>
              <a:ext uri="{FF2B5EF4-FFF2-40B4-BE49-F238E27FC236}">
                <a16:creationId xmlns:a16="http://schemas.microsoft.com/office/drawing/2014/main" id="{91A30FCC-0852-291A-5633-086E0F10F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635" y="471866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2E98FD94-1639-897B-FCF5-9AAD36C817C9}"/>
              </a:ext>
            </a:extLst>
          </p:cNvPr>
          <p:cNvSpPr txBox="1"/>
          <p:nvPr/>
        </p:nvSpPr>
        <p:spPr>
          <a:xfrm>
            <a:off x="895440" y="1664094"/>
            <a:ext cx="23615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/>
              <a:t>Nội dung</a:t>
            </a:r>
            <a:endParaRPr lang="vi-VN" sz="4400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A1B82B9E-1F13-97A2-8777-953F57307027}"/>
              </a:ext>
            </a:extLst>
          </p:cNvPr>
          <p:cNvSpPr txBox="1"/>
          <p:nvPr/>
        </p:nvSpPr>
        <p:spPr>
          <a:xfrm>
            <a:off x="895440" y="2805675"/>
            <a:ext cx="43797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/>
              <a:t>Giới thiệu đề tài</a:t>
            </a:r>
          </a:p>
          <a:p>
            <a:pPr marL="342900" indent="-342900">
              <a:buAutoNum type="arabicPeriod"/>
            </a:pPr>
            <a:r>
              <a:rPr lang="en-US" sz="2800"/>
              <a:t>Phương pháp nghiên cứu</a:t>
            </a:r>
          </a:p>
          <a:p>
            <a:pPr marL="342900" indent="-342900">
              <a:buAutoNum type="arabicPeriod"/>
            </a:pPr>
            <a:r>
              <a:rPr lang="en-US" sz="2800"/>
              <a:t>Demo</a:t>
            </a: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D64E28F8-042A-54D8-F60D-89327C3ECBB2}"/>
              </a:ext>
            </a:extLst>
          </p:cNvPr>
          <p:cNvSpPr txBox="1"/>
          <p:nvPr/>
        </p:nvSpPr>
        <p:spPr>
          <a:xfrm>
            <a:off x="3132143" y="528794"/>
            <a:ext cx="59277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TRƯỜNG ĐẠI HỌC BÁCH KHOA ĐÀ NẴNG</a:t>
            </a:r>
          </a:p>
          <a:p>
            <a:pPr algn="ctr"/>
            <a:r>
              <a:rPr lang="en-US" sz="2400" b="1"/>
              <a:t>KHOA ĐIỆN TỬ VIỄN THÔNG</a:t>
            </a:r>
            <a:endParaRPr lang="vi-VN" sz="2400" b="1"/>
          </a:p>
        </p:txBody>
      </p:sp>
    </p:spTree>
    <p:extLst>
      <p:ext uri="{BB962C8B-B14F-4D97-AF65-F5344CB8AC3E}">
        <p14:creationId xmlns:p14="http://schemas.microsoft.com/office/powerpoint/2010/main" val="3160587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CA008-FB23-F2C8-D999-BDEA29F75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rường Đại học Bách khoa, Đại học Đà Nẵng – Wikipedia tiếng Việt">
            <a:extLst>
              <a:ext uri="{FF2B5EF4-FFF2-40B4-BE49-F238E27FC236}">
                <a16:creationId xmlns:a16="http://schemas.microsoft.com/office/drawing/2014/main" id="{63F633FE-5554-4C4D-4E2D-01FAE9781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40" y="471867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HOA ĐIỆN TỬ VIỄN THÔNG">
            <a:extLst>
              <a:ext uri="{FF2B5EF4-FFF2-40B4-BE49-F238E27FC236}">
                <a16:creationId xmlns:a16="http://schemas.microsoft.com/office/drawing/2014/main" id="{77313833-432B-DD65-2744-D29BA320F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635" y="471866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256B2795-D751-CBDA-6B50-3EFB35C8467D}"/>
              </a:ext>
            </a:extLst>
          </p:cNvPr>
          <p:cNvSpPr txBox="1"/>
          <p:nvPr/>
        </p:nvSpPr>
        <p:spPr>
          <a:xfrm>
            <a:off x="895440" y="1664094"/>
            <a:ext cx="45608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/>
              <a:t>1. Giới thiệu đề tài</a:t>
            </a:r>
            <a:endParaRPr lang="vi-VN" sz="4400"/>
          </a:p>
        </p:txBody>
      </p:sp>
      <p:pic>
        <p:nvPicPr>
          <p:cNvPr id="2050" name="Picture 2" descr="Industrial Robotic Arm Overview – Intel">
            <a:extLst>
              <a:ext uri="{FF2B5EF4-FFF2-40B4-BE49-F238E27FC236}">
                <a16:creationId xmlns:a16="http://schemas.microsoft.com/office/drawing/2014/main" id="{299094CE-2BB6-B9E3-E712-D31268767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932" y="2913902"/>
            <a:ext cx="3034363" cy="201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Xe Tự Hành AGV: Tổng Quan Về Sản Phẩm Và Lợi Ích Mang Lại">
            <a:extLst>
              <a:ext uri="{FF2B5EF4-FFF2-40B4-BE49-F238E27FC236}">
                <a16:creationId xmlns:a16="http://schemas.microsoft.com/office/drawing/2014/main" id="{04DA2D3E-B9B4-F148-49A1-33BA442EA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317" y="2913901"/>
            <a:ext cx="3034363" cy="201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1E985749-3A73-D545-1708-46297CD30C12}"/>
              </a:ext>
            </a:extLst>
          </p:cNvPr>
          <p:cNvSpPr txBox="1"/>
          <p:nvPr/>
        </p:nvSpPr>
        <p:spPr>
          <a:xfrm>
            <a:off x="3132143" y="528794"/>
            <a:ext cx="59277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TRƯỜNG ĐẠI HỌC BÁCH KHOA ĐÀ NẴNG</a:t>
            </a:r>
          </a:p>
          <a:p>
            <a:pPr algn="ctr"/>
            <a:r>
              <a:rPr lang="en-US" sz="2400" b="1"/>
              <a:t>KHOA ĐIỆN TỬ VIỄN THÔNG</a:t>
            </a:r>
            <a:endParaRPr lang="vi-VN" sz="2400" b="1"/>
          </a:p>
        </p:txBody>
      </p:sp>
      <p:sp>
        <p:nvSpPr>
          <p:cNvPr id="3" name="Chữ thập 2">
            <a:extLst>
              <a:ext uri="{FF2B5EF4-FFF2-40B4-BE49-F238E27FC236}">
                <a16:creationId xmlns:a16="http://schemas.microsoft.com/office/drawing/2014/main" id="{6E6C2197-0127-E755-80B1-C867668288C6}"/>
              </a:ext>
            </a:extLst>
          </p:cNvPr>
          <p:cNvSpPr/>
          <p:nvPr/>
        </p:nvSpPr>
        <p:spPr>
          <a:xfrm>
            <a:off x="5311735" y="3578087"/>
            <a:ext cx="663102" cy="769440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4384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E7D9A-6867-8F2B-CF4C-EFEE8C47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rường Đại học Bách khoa, Đại học Đà Nẵng – Wikipedia tiếng Việt">
            <a:extLst>
              <a:ext uri="{FF2B5EF4-FFF2-40B4-BE49-F238E27FC236}">
                <a16:creationId xmlns:a16="http://schemas.microsoft.com/office/drawing/2014/main" id="{AF0D9947-5A29-C452-788B-A7FE369DA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40" y="471867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HOA ĐIỆN TỬ VIỄN THÔNG">
            <a:extLst>
              <a:ext uri="{FF2B5EF4-FFF2-40B4-BE49-F238E27FC236}">
                <a16:creationId xmlns:a16="http://schemas.microsoft.com/office/drawing/2014/main" id="{C5D8D646-468E-E20E-2CF6-406A51D08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635" y="471866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FE9488DC-B713-2175-4733-866555687CC6}"/>
              </a:ext>
            </a:extLst>
          </p:cNvPr>
          <p:cNvSpPr txBox="1"/>
          <p:nvPr/>
        </p:nvSpPr>
        <p:spPr>
          <a:xfrm>
            <a:off x="895440" y="1664094"/>
            <a:ext cx="67970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/>
              <a:t>2. Phương pháp nghiên cứu</a:t>
            </a: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D9253833-4D8F-3800-5CE7-F775F123B8C1}"/>
              </a:ext>
            </a:extLst>
          </p:cNvPr>
          <p:cNvSpPr txBox="1"/>
          <p:nvPr/>
        </p:nvSpPr>
        <p:spPr>
          <a:xfrm>
            <a:off x="3132143" y="528794"/>
            <a:ext cx="59277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TRƯỜNG ĐẠI HỌC BÁCH KHOA ĐÀ NẴNG</a:t>
            </a:r>
          </a:p>
          <a:p>
            <a:pPr algn="ctr"/>
            <a:r>
              <a:rPr lang="en-US" sz="2400" b="1"/>
              <a:t>KHOA ĐIỆN TỬ VIỄN THÔNG</a:t>
            </a:r>
            <a:endParaRPr lang="vi-VN" sz="2400" b="1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E9329457-F526-0ADC-6235-09D2DBFDB7B6}"/>
              </a:ext>
            </a:extLst>
          </p:cNvPr>
          <p:cNvSpPr txBox="1"/>
          <p:nvPr/>
        </p:nvSpPr>
        <p:spPr>
          <a:xfrm>
            <a:off x="895440" y="2737837"/>
            <a:ext cx="10077360" cy="2172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Mô tả chức năng:</a:t>
            </a:r>
          </a:p>
          <a:p>
            <a:pPr marL="285750" indent="-285750">
              <a:buFontTx/>
              <a:buChar char="-"/>
            </a:pPr>
            <a:r>
              <a:rPr lang="en-US" sz="1800" kern="10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Điều khiển Robotic Arm Vehicle bằng cách kết nối với wifi của  ESP32-C3 và truy cập vào webserver điểu khiển: </a:t>
            </a:r>
          </a:p>
          <a:p>
            <a:pPr marL="1186180">
              <a:lnSpc>
                <a:spcPct val="107000"/>
              </a:lnSpc>
            </a:pPr>
            <a:r>
              <a:rPr lang="en-US" kern="10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+ </a:t>
            </a:r>
            <a:r>
              <a:rPr lang="en-US" sz="1800" kern="10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Xe: di chuyển tới,lui, sang trái, sang phải</a:t>
            </a:r>
            <a:endParaRPr lang="vi-VN" sz="1800" kern="10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1186180">
              <a:lnSpc>
                <a:spcPct val="107000"/>
              </a:lnSpc>
              <a:spcAft>
                <a:spcPts val="800"/>
              </a:spcAft>
            </a:pPr>
            <a:r>
              <a:rPr lang="en-US" sz="1800" kern="10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+ Cánh tay robot : thông qua các servo điều khiển cánh tay robot nhặt và giữ vật thể</a:t>
            </a:r>
            <a:endParaRPr lang="vi-VN" sz="1800" kern="10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lvl="1"/>
            <a:endParaRPr lang="vi-VN" kern="10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58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F17B1-DE9F-BAE0-0BD7-92093716B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rường Đại học Bách khoa, Đại học Đà Nẵng – Wikipedia tiếng Việt">
            <a:extLst>
              <a:ext uri="{FF2B5EF4-FFF2-40B4-BE49-F238E27FC236}">
                <a16:creationId xmlns:a16="http://schemas.microsoft.com/office/drawing/2014/main" id="{5806023A-45E9-93B6-4189-28AE0BFD2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40" y="471867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HOA ĐIỆN TỬ VIỄN THÔNG">
            <a:extLst>
              <a:ext uri="{FF2B5EF4-FFF2-40B4-BE49-F238E27FC236}">
                <a16:creationId xmlns:a16="http://schemas.microsoft.com/office/drawing/2014/main" id="{DDDBEFBE-FFE3-01A1-5641-CEFA99CB2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635" y="471866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95CE79DB-8F43-559B-76F1-2B51FD493BFC}"/>
              </a:ext>
            </a:extLst>
          </p:cNvPr>
          <p:cNvSpPr txBox="1"/>
          <p:nvPr/>
        </p:nvSpPr>
        <p:spPr>
          <a:xfrm>
            <a:off x="850004" y="1484055"/>
            <a:ext cx="67970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2. Phương pháp nghiên cứu</a:t>
            </a: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BD9B36D9-0F10-3D61-CC8C-3985DCBE6022}"/>
              </a:ext>
            </a:extLst>
          </p:cNvPr>
          <p:cNvSpPr txBox="1"/>
          <p:nvPr/>
        </p:nvSpPr>
        <p:spPr>
          <a:xfrm>
            <a:off x="3132143" y="528794"/>
            <a:ext cx="59277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TRƯỜNG ĐẠI HỌC BÁCH KHOA ĐÀ NẴNG</a:t>
            </a:r>
          </a:p>
          <a:p>
            <a:pPr algn="ctr"/>
            <a:r>
              <a:rPr lang="en-US" sz="2400" b="1"/>
              <a:t>KHOA ĐIỆN TỬ VIỄN THÔNG</a:t>
            </a:r>
            <a:endParaRPr lang="vi-VN" sz="2400" b="1"/>
          </a:p>
        </p:txBody>
      </p:sp>
      <p:pic>
        <p:nvPicPr>
          <p:cNvPr id="3" name="Đồ họa 1">
            <a:extLst>
              <a:ext uri="{FF2B5EF4-FFF2-40B4-BE49-F238E27FC236}">
                <a16:creationId xmlns:a16="http://schemas.microsoft.com/office/drawing/2014/main" id="{DEFD04BB-BF5C-5B0C-B3E1-2A273EE4A3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32143" y="2276447"/>
            <a:ext cx="5572507" cy="443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86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CC8A0-5049-7C43-2B8F-68C22841A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rường Đại học Bách khoa, Đại học Đà Nẵng – Wikipedia tiếng Việt">
            <a:extLst>
              <a:ext uri="{FF2B5EF4-FFF2-40B4-BE49-F238E27FC236}">
                <a16:creationId xmlns:a16="http://schemas.microsoft.com/office/drawing/2014/main" id="{57C2AC90-9147-758D-AA79-16CBDF5EE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40" y="471867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HOA ĐIỆN TỬ VIỄN THÔNG">
            <a:extLst>
              <a:ext uri="{FF2B5EF4-FFF2-40B4-BE49-F238E27FC236}">
                <a16:creationId xmlns:a16="http://schemas.microsoft.com/office/drawing/2014/main" id="{D5B665CD-0B57-CA9B-FFC0-9E302CBE2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635" y="471866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F582D91F-7B79-A822-2027-985A2799B761}"/>
              </a:ext>
            </a:extLst>
          </p:cNvPr>
          <p:cNvSpPr txBox="1"/>
          <p:nvPr/>
        </p:nvSpPr>
        <p:spPr>
          <a:xfrm>
            <a:off x="850004" y="1484055"/>
            <a:ext cx="67970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2. Phương pháp nghiên cứu</a:t>
            </a: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372E3138-94D4-16E2-960F-64985654BE4F}"/>
              </a:ext>
            </a:extLst>
          </p:cNvPr>
          <p:cNvSpPr txBox="1"/>
          <p:nvPr/>
        </p:nvSpPr>
        <p:spPr>
          <a:xfrm>
            <a:off x="3132143" y="528794"/>
            <a:ext cx="59277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TRƯỜNG ĐẠI HỌC BÁCH KHOA ĐÀ NẴNG</a:t>
            </a:r>
          </a:p>
          <a:p>
            <a:pPr algn="ctr"/>
            <a:r>
              <a:rPr lang="en-US" sz="2400" b="1"/>
              <a:t>KHOA ĐIỆN TỬ VIỄN THÔNG</a:t>
            </a:r>
            <a:endParaRPr lang="vi-VN" sz="2400" b="1"/>
          </a:p>
        </p:txBody>
      </p:sp>
      <p:pic>
        <p:nvPicPr>
          <p:cNvPr id="4" name="Hình ảnh 3" descr="Ảnh có chứa biểu đồ, Kế hoạch, văn bản, ảnh chụp màn hình&#10;&#10;Mô tả được tạo tự động">
            <a:extLst>
              <a:ext uri="{FF2B5EF4-FFF2-40B4-BE49-F238E27FC236}">
                <a16:creationId xmlns:a16="http://schemas.microsoft.com/office/drawing/2014/main" id="{18CD73A9-02CE-8D14-7D70-3402D7F77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8459" y="2191941"/>
            <a:ext cx="6427485" cy="408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212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38DFE-2663-A1F5-64AB-C5DDFC5C3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rường Đại học Bách khoa, Đại học Đà Nẵng – Wikipedia tiếng Việt">
            <a:extLst>
              <a:ext uri="{FF2B5EF4-FFF2-40B4-BE49-F238E27FC236}">
                <a16:creationId xmlns:a16="http://schemas.microsoft.com/office/drawing/2014/main" id="{D1D909CA-1CF1-6C35-7559-47F107C7C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40" y="471867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HOA ĐIỆN TỬ VIỄN THÔNG">
            <a:extLst>
              <a:ext uri="{FF2B5EF4-FFF2-40B4-BE49-F238E27FC236}">
                <a16:creationId xmlns:a16="http://schemas.microsoft.com/office/drawing/2014/main" id="{FEE6DD2E-264D-D5C6-5CD4-F9F1FC880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635" y="471866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BAB809D8-5AC0-6B05-FF9A-3761AB0B3E24}"/>
              </a:ext>
            </a:extLst>
          </p:cNvPr>
          <p:cNvSpPr txBox="1"/>
          <p:nvPr/>
        </p:nvSpPr>
        <p:spPr>
          <a:xfrm>
            <a:off x="850004" y="1484055"/>
            <a:ext cx="67970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2. Phương pháp nghiên cứu</a:t>
            </a: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ED2DC361-765E-BB1F-054E-40CBC2823EC5}"/>
              </a:ext>
            </a:extLst>
          </p:cNvPr>
          <p:cNvSpPr txBox="1"/>
          <p:nvPr/>
        </p:nvSpPr>
        <p:spPr>
          <a:xfrm>
            <a:off x="3132143" y="528794"/>
            <a:ext cx="59277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TRƯỜNG ĐẠI HỌC BÁCH KHOA ĐÀ NẴNG</a:t>
            </a:r>
          </a:p>
          <a:p>
            <a:pPr algn="ctr"/>
            <a:r>
              <a:rPr lang="en-US" sz="2400" b="1"/>
              <a:t>KHOA ĐIỆN TỬ VIỄN THÔNG</a:t>
            </a:r>
            <a:endParaRPr lang="vi-VN" sz="2400" b="1"/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7CD25695-C182-B493-52C5-B1B57FA9DD04}"/>
              </a:ext>
            </a:extLst>
          </p:cNvPr>
          <p:cNvSpPr txBox="1"/>
          <p:nvPr/>
        </p:nvSpPr>
        <p:spPr>
          <a:xfrm>
            <a:off x="1254209" y="2453545"/>
            <a:ext cx="5564344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Xây dựng phần mềm: </a:t>
            </a:r>
          </a:p>
          <a:p>
            <a:r>
              <a:rPr lang="en-US" sz="2400"/>
              <a:t>-    </a:t>
            </a:r>
            <a:r>
              <a:rPr lang="en-US" sz="2400" kern="10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Sử dụng ngôn ngữ C++ và Arduino IDE</a:t>
            </a:r>
            <a:endParaRPr lang="vi-VN" sz="2400" kern="10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Thư viện sử dụng</a:t>
            </a:r>
          </a:p>
          <a:p>
            <a:pPr lvl="1"/>
            <a:r>
              <a:rPr lang="en-US" sz="2400">
                <a:latin typeface="Times New Roman" panose="02020603050405020304" pitchFamily="18" charset="0"/>
              </a:rPr>
              <a:t>+ </a:t>
            </a:r>
            <a:r>
              <a:rPr lang="en-US" sz="240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AsyncTCP</a:t>
            </a:r>
            <a:endParaRPr lang="en-US" sz="2400"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lvl="1"/>
            <a:r>
              <a:rPr lang="en-US" sz="2400">
                <a:latin typeface="Times New Roman" panose="02020603050405020304" pitchFamily="18" charset="0"/>
              </a:rPr>
              <a:t>+ </a:t>
            </a:r>
            <a:r>
              <a:rPr lang="en-US" sz="240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ESPAsyncWebserver</a:t>
            </a:r>
          </a:p>
          <a:p>
            <a:pPr lvl="1"/>
            <a:r>
              <a:rPr lang="en-US" sz="2400">
                <a:latin typeface="Times New Roman" panose="02020603050405020304" pitchFamily="18" charset="0"/>
              </a:rPr>
              <a:t>+ </a:t>
            </a:r>
            <a:r>
              <a:rPr lang="en-US" sz="240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ESP32Servo</a:t>
            </a:r>
            <a:endParaRPr lang="en-US" sz="2400"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400" kern="10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Giao thức sử dụng:</a:t>
            </a:r>
            <a:endParaRPr lang="vi-VN" sz="2400" kern="10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US" sz="2400">
                <a:latin typeface="Times New Roman" panose="02020603050405020304" pitchFamily="18" charset="0"/>
                <a:ea typeface="Arial" panose="020B0604020202020204" pitchFamily="34" charset="0"/>
              </a:rPr>
              <a:t>+ </a:t>
            </a:r>
            <a:r>
              <a:rPr lang="en-US" sz="240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Giao thức WebSocket</a:t>
            </a:r>
          </a:p>
          <a:p>
            <a:pPr lvl="1"/>
            <a:r>
              <a:rPr lang="en-US" sz="2400">
                <a:latin typeface="Times New Roman" panose="02020603050405020304" pitchFamily="18" charset="0"/>
                <a:ea typeface="Arial" panose="020B0604020202020204" pitchFamily="34" charset="0"/>
              </a:rPr>
              <a:t>+ </a:t>
            </a:r>
            <a:r>
              <a:rPr lang="en-US" sz="240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Giao thức http</a:t>
            </a:r>
          </a:p>
          <a:p>
            <a:pPr marL="285750" indent="-285750">
              <a:buFontTx/>
              <a:buChar char="-"/>
            </a:pPr>
            <a:endParaRPr lang="en-US" sz="2400">
              <a:effectLst/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614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6EC1-4823-990F-038C-0293D83CD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rường Đại học Bách khoa, Đại học Đà Nẵng – Wikipedia tiếng Việt">
            <a:extLst>
              <a:ext uri="{FF2B5EF4-FFF2-40B4-BE49-F238E27FC236}">
                <a16:creationId xmlns:a16="http://schemas.microsoft.com/office/drawing/2014/main" id="{D0F0F909-D3D1-C4DB-1BA2-F548D52B1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40" y="471867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HOA ĐIỆN TỬ VIỄN THÔNG">
            <a:extLst>
              <a:ext uri="{FF2B5EF4-FFF2-40B4-BE49-F238E27FC236}">
                <a16:creationId xmlns:a16="http://schemas.microsoft.com/office/drawing/2014/main" id="{FFD537A1-A679-3509-22DE-B9DD46E44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635" y="471866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D8E0222C-EAF6-CAC1-40CE-AA6FD4810C69}"/>
              </a:ext>
            </a:extLst>
          </p:cNvPr>
          <p:cNvSpPr txBox="1"/>
          <p:nvPr/>
        </p:nvSpPr>
        <p:spPr>
          <a:xfrm>
            <a:off x="850004" y="1484055"/>
            <a:ext cx="67970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2. Phương pháp nghiên cứu</a:t>
            </a: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D6912C7B-E6CE-717F-D2BB-11F68C731BF5}"/>
              </a:ext>
            </a:extLst>
          </p:cNvPr>
          <p:cNvSpPr txBox="1"/>
          <p:nvPr/>
        </p:nvSpPr>
        <p:spPr>
          <a:xfrm>
            <a:off x="3132143" y="528794"/>
            <a:ext cx="59277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TRƯỜNG ĐẠI HỌC BÁCH KHOA ĐÀ NẴNG</a:t>
            </a:r>
          </a:p>
          <a:p>
            <a:pPr algn="ctr"/>
            <a:r>
              <a:rPr lang="en-US" sz="2400" b="1"/>
              <a:t>KHOA ĐIỆN TỬ VIỄN THÔNG</a:t>
            </a:r>
            <a:endParaRPr lang="vi-VN" sz="2400" b="1"/>
          </a:p>
        </p:txBody>
      </p:sp>
      <p:pic>
        <p:nvPicPr>
          <p:cNvPr id="4" name="Hình ảnh 3" descr="Ảnh có chứa ảnh chụp màn hình, văn bản, phần mềm, Phần mềm đa phương tiện&#10;&#10;Mô tả được tạo tự động">
            <a:extLst>
              <a:ext uri="{FF2B5EF4-FFF2-40B4-BE49-F238E27FC236}">
                <a16:creationId xmlns:a16="http://schemas.microsoft.com/office/drawing/2014/main" id="{DB429A57-88B2-2255-1A38-808BA170B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026" y="2589506"/>
            <a:ext cx="7040764" cy="324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221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9B80E-4971-2BC4-8DD2-E1F79CA17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rường Đại học Bách khoa, Đại học Đà Nẵng – Wikipedia tiếng Việt">
            <a:extLst>
              <a:ext uri="{FF2B5EF4-FFF2-40B4-BE49-F238E27FC236}">
                <a16:creationId xmlns:a16="http://schemas.microsoft.com/office/drawing/2014/main" id="{6815FEFF-CB72-C050-DE26-9282316E1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40" y="471867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HOA ĐIỆN TỬ VIỄN THÔNG">
            <a:extLst>
              <a:ext uri="{FF2B5EF4-FFF2-40B4-BE49-F238E27FC236}">
                <a16:creationId xmlns:a16="http://schemas.microsoft.com/office/drawing/2014/main" id="{F6482966-AC71-45C6-BD92-9AF4D3CE7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635" y="471866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C6E87BCE-B422-23ED-3F8C-FD264482C69F}"/>
              </a:ext>
            </a:extLst>
          </p:cNvPr>
          <p:cNvSpPr txBox="1"/>
          <p:nvPr/>
        </p:nvSpPr>
        <p:spPr>
          <a:xfrm>
            <a:off x="838645" y="1688517"/>
            <a:ext cx="67970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3. Demo</a:t>
            </a: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D19861B1-B3D6-BF50-ED5D-F5F62B9767AB}"/>
              </a:ext>
            </a:extLst>
          </p:cNvPr>
          <p:cNvSpPr txBox="1"/>
          <p:nvPr/>
        </p:nvSpPr>
        <p:spPr>
          <a:xfrm>
            <a:off x="3132143" y="528794"/>
            <a:ext cx="59277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TRƯỜNG ĐẠI HỌC BÁCH KHOA ĐÀ NẴNG</a:t>
            </a:r>
          </a:p>
          <a:p>
            <a:pPr algn="ctr"/>
            <a:r>
              <a:rPr lang="en-US" sz="2400" b="1"/>
              <a:t>KHOA ĐIỆN TỬ VIỄN THÔNG</a:t>
            </a:r>
            <a:endParaRPr lang="vi-VN" sz="2400" b="1"/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E9B07B8-4FA7-FBD8-F876-8E652348EB00}"/>
              </a:ext>
            </a:extLst>
          </p:cNvPr>
          <p:cNvSpPr txBox="1"/>
          <p:nvPr/>
        </p:nvSpPr>
        <p:spPr>
          <a:xfrm>
            <a:off x="1027990" y="2896547"/>
            <a:ext cx="6575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Thực hiên nhặt một vật nhỏ và di chuyển nó đến vị trí mong muốn</a:t>
            </a:r>
            <a:endParaRPr lang="vi-VN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BBE8FB2A-DBA0-5DE7-9C7F-E83799473969}"/>
              </a:ext>
            </a:extLst>
          </p:cNvPr>
          <p:cNvSpPr txBox="1"/>
          <p:nvPr/>
        </p:nvSpPr>
        <p:spPr>
          <a:xfrm>
            <a:off x="1027990" y="3475855"/>
            <a:ext cx="6077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https://youtube.com/shorts/Qbyt9HPTQQ0?feature=share</a:t>
            </a: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B89979A8-81F3-263D-15A7-2BB4B7A6E2DD}"/>
              </a:ext>
            </a:extLst>
          </p:cNvPr>
          <p:cNvSpPr txBox="1"/>
          <p:nvPr/>
        </p:nvSpPr>
        <p:spPr>
          <a:xfrm>
            <a:off x="1027990" y="4055163"/>
            <a:ext cx="815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https://drive.google.com/drive/folders/1Q2xSZwno_S19Pf3PNoSiv5ODQerSk6ub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59521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FEF5C-492D-BEBB-B300-76C0013C0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rường Đại học Bách khoa, Đại học Đà Nẵng – Wikipedia tiếng Việt">
            <a:extLst>
              <a:ext uri="{FF2B5EF4-FFF2-40B4-BE49-F238E27FC236}">
                <a16:creationId xmlns:a16="http://schemas.microsoft.com/office/drawing/2014/main" id="{853E6CFF-6E7E-2609-FCC0-885CAB97B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40" y="471867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HOA ĐIỆN TỬ VIỄN THÔNG">
            <a:extLst>
              <a:ext uri="{FF2B5EF4-FFF2-40B4-BE49-F238E27FC236}">
                <a16:creationId xmlns:a16="http://schemas.microsoft.com/office/drawing/2014/main" id="{3E8C6175-C814-F4EF-BA30-67997F0E4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635" y="471866"/>
            <a:ext cx="887925" cy="8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72E8A226-E433-CB4C-F17E-D52C65EF6A65}"/>
              </a:ext>
            </a:extLst>
          </p:cNvPr>
          <p:cNvSpPr txBox="1"/>
          <p:nvPr/>
        </p:nvSpPr>
        <p:spPr>
          <a:xfrm>
            <a:off x="2697472" y="3029621"/>
            <a:ext cx="67970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/>
              <a:t>Thanks for listening</a:t>
            </a: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33336E72-F6F6-D1F3-1AEF-2149238E40A1}"/>
              </a:ext>
            </a:extLst>
          </p:cNvPr>
          <p:cNvSpPr txBox="1"/>
          <p:nvPr/>
        </p:nvSpPr>
        <p:spPr>
          <a:xfrm>
            <a:off x="3132143" y="528794"/>
            <a:ext cx="59277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TRƯỜNG ĐẠI HỌC BÁCH KHOA ĐÀ NẴNG</a:t>
            </a:r>
          </a:p>
          <a:p>
            <a:pPr algn="ctr"/>
            <a:r>
              <a:rPr lang="en-US" sz="2400" b="1"/>
              <a:t>KHOA ĐIỆN TỬ VIỄN THÔNG</a:t>
            </a:r>
            <a:endParaRPr lang="vi-VN" sz="2400" b="1"/>
          </a:p>
        </p:txBody>
      </p:sp>
    </p:spTree>
    <p:extLst>
      <p:ext uri="{BB962C8B-B14F-4D97-AF65-F5344CB8AC3E}">
        <p14:creationId xmlns:p14="http://schemas.microsoft.com/office/powerpoint/2010/main" val="717805736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349</Words>
  <Application>Microsoft Office PowerPoint</Application>
  <PresentationFormat>Màn hình rộng</PresentationFormat>
  <Paragraphs>53</Paragraphs>
  <Slides>10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Chủ đề Office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Hoàng Văn Thái</dc:creator>
  <cp:lastModifiedBy>Hoàng Văn Thái</cp:lastModifiedBy>
  <cp:revision>14</cp:revision>
  <dcterms:created xsi:type="dcterms:W3CDTF">2024-12-11T04:34:27Z</dcterms:created>
  <dcterms:modified xsi:type="dcterms:W3CDTF">2024-12-12T01:49:48Z</dcterms:modified>
</cp:coreProperties>
</file>